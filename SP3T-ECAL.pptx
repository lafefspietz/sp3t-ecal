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58" r:id="rId5"/>
    <p:sldId id="260" r:id="rId6"/>
    <p:sldId id="261" r:id="rId7"/>
    <p:sldId id="259" r:id="rId8"/>
    <p:sldId id="262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7023100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6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129CC-C84B-DC25-8B4F-2F3D7C73B4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A7E4AB-B76D-D775-CD26-E2BF311018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A5908-304A-81F1-17E1-0B327977E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F05D-9385-4B1A-9374-4A2BEAD69DDD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A1195-7236-9105-E1B4-D4F4749BF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B1D0F-13C5-DFF3-33E2-90F81A39D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27016-2CC9-4DDA-8CDC-38A855A27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407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BB548-CB21-D725-2B31-8022E8101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58E3-4C84-A84C-4B45-F29273DE2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ADD0AD-9956-7741-45E2-1202ED090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F05D-9385-4B1A-9374-4A2BEAD69DDD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11B75F-89B0-0500-EB20-952FD5760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96C5E-AC5F-BCD0-631F-B6E7246EE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27016-2CC9-4DDA-8CDC-38A855A27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103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8B7A8-9DC0-2EA7-DE3E-FDCE314E1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FF1332-5081-5624-0D03-748677875A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92A5BB-3536-E9E4-1506-4946F7578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F05D-9385-4B1A-9374-4A2BEAD69DDD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B3964-5352-BAF2-1811-C78AE8F91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3EF86-3D12-9397-090D-EF4AF2631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27016-2CC9-4DDA-8CDC-38A855A27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455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4C383-6180-EB5C-AF4B-1458D046A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B136A-BE7C-8DD5-7DE6-26AA06F5B4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E32984-A826-0955-D295-4C2F0708FA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CF5DD3-BE6F-4B3F-5019-547D43851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F05D-9385-4B1A-9374-4A2BEAD69DDD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C1ACEB-9F88-BCDA-355B-B146D38E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CD11C2-0173-9705-3A43-BFAB9C939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27016-2CC9-4DDA-8CDC-38A855A27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211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895A8-DC58-B299-A755-C7253D522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9068C-186E-769E-E215-48D6D26F72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01C293-E823-C32E-F034-F051890EE8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CBFF2C-1CAD-C5F3-C691-F12F55BD31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C80169-9576-C7B1-C7D8-D36D323CFB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B30AD6-57D6-7DB9-6D8C-DD4F22285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F05D-9385-4B1A-9374-4A2BEAD69DDD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3444AF-D2A0-D017-D6F8-4EFBDC245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505401-95E5-64B5-9933-D734721F1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27016-2CC9-4DDA-8CDC-38A855A27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262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15D6F-5179-13D2-4601-176C4A2EA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888938-E033-72D4-13E9-B211726EB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F05D-9385-4B1A-9374-4A2BEAD69DDD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61EFD0-2D4E-D95A-ED7F-6F4E3D4DA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2E9354-8840-D1AD-CFBD-DD4B11A6F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27016-2CC9-4DDA-8CDC-38A855A27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720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26E047-2A66-C26E-84FB-2C0E68394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F05D-9385-4B1A-9374-4A2BEAD69DDD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B0676F-9303-BBFE-1D2A-85281A597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5A25C2-E54A-400B-8485-D0128EC4A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27016-2CC9-4DDA-8CDC-38A855A27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703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2D3B1-8693-EBD9-21BE-738CC636C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35EFB-C371-2E1C-04BF-619B5E4F9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0FB59B-68CC-46D9-20E1-A3ECEAE0EF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8D3251-9A77-347F-5391-B8FC12CA4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F05D-9385-4B1A-9374-4A2BEAD69DDD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3B4CCF-3E3D-15C2-B9AD-077D9119C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B61E1E-0075-8693-70A8-6882B4461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27016-2CC9-4DDA-8CDC-38A855A27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119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EFFF2-88C3-6323-B807-9FD3E2E22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D8135C-EFAE-B0B9-BEF5-7800B7EC2C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050F3A-07AE-DF5C-F250-938449E701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4C4971-84DD-6B00-C7AE-4A1C1E917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F05D-9385-4B1A-9374-4A2BEAD69DDD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64E8FB-11ED-BF95-C027-2B42F403D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8802FE-682A-8E03-BC81-7E4A12048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27016-2CC9-4DDA-8CDC-38A855A27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410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8C9B1-AE8F-274A-EC61-D17DE7381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2A472D-EF48-03AC-B44F-F3AE43F641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A5EE5-3E7B-DF55-C870-0043C1B80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F05D-9385-4B1A-9374-4A2BEAD69DDD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83C713-D6A4-8E0E-6035-05C88B4C5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6707BE-4101-6DF8-9F3C-A1D848E82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27016-2CC9-4DDA-8CDC-38A855A27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900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91EF59-B4A3-3200-6C21-B3B53ADD71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BF3334-EAAA-44E0-5222-346826E806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D5B191-2C5F-B4CD-713D-22358BEF1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F05D-9385-4B1A-9374-4A2BEAD69DDD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C4E974-4A23-20A9-8D34-AACF35AFD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AFD5B5-3D2C-44FA-04B0-7CA2B9D4A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27016-2CC9-4DDA-8CDC-38A855A27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847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6DC04C-6492-698C-6E05-76B37A33C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AB851F-3678-330C-6461-1CF76D7265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D67956-AEA7-C507-5F52-E3308778EA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53F05D-9385-4B1A-9374-4A2BEAD69DDD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FFD7F6-E7A6-41DE-76E7-850A37276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CE2E22-3554-EA83-56ED-7FC8FDFB87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527016-2CC9-4DDA-8CDC-38A855A27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637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rogerscorp.com/advanced-electronics-solutions/ro4000-series-laminates/ro4350b-laminates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digikey.com/en/products/detail/te-connectivity-passive-product/CPF0201B49R9E1/14007284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mpd.southwestmicrowave.com/product/292-04a-12-end-launch-supersma-27-ghz-jack-female-standard-block-500-thread-in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DE273-ED16-5F2C-7E67-E943B87EA9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MM4250 Cal PCBs</a:t>
            </a:r>
            <a:br>
              <a:rPr lang="en-US" dirty="0"/>
            </a:br>
            <a:r>
              <a:rPr lang="en-US" dirty="0"/>
              <a:t>and </a:t>
            </a:r>
            <a:br>
              <a:rPr lang="en-US" dirty="0"/>
            </a:br>
            <a:r>
              <a:rPr lang="en-US" dirty="0"/>
              <a:t>Dual SP3T </a:t>
            </a:r>
            <a:r>
              <a:rPr lang="en-US" dirty="0" err="1"/>
              <a:t>Ecal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CE6C2F-D04A-D832-3502-FE0D6D58EC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Lafe Spietz</a:t>
            </a:r>
          </a:p>
          <a:p>
            <a:r>
              <a:rPr lang="en-US" dirty="0"/>
              <a:t>NIST</a:t>
            </a:r>
          </a:p>
          <a:p>
            <a:r>
              <a:rPr lang="en-US" dirty="0"/>
              <a:t>Boulder, CO</a:t>
            </a:r>
          </a:p>
        </p:txBody>
      </p:sp>
    </p:spTree>
    <p:extLst>
      <p:ext uri="{BB962C8B-B14F-4D97-AF65-F5344CB8AC3E}">
        <p14:creationId xmlns:p14="http://schemas.microsoft.com/office/powerpoint/2010/main" val="3063399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60DD7-F3DF-E53C-F57F-EDE121D2B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CPW-G Rogers 4350 B 0.762 mm (30 mils)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04C0C4F-D5FB-C8D2-A3A7-25460B8EB3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75911" y="2191253"/>
            <a:ext cx="6106377" cy="35723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A7C07C-D344-78BC-C71A-CDCA4C8EF0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96" y="1478942"/>
            <a:ext cx="4825035" cy="52200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61CE6DC-718E-AC42-0F80-20F182B58F90}"/>
              </a:ext>
            </a:extLst>
          </p:cNvPr>
          <p:cNvSpPr txBox="1"/>
          <p:nvPr/>
        </p:nvSpPr>
        <p:spPr>
          <a:xfrm>
            <a:off x="5583804" y="5941026"/>
            <a:ext cx="60946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https://rogerscorp.com/advanced-electronics-solutions/ro4000-series-laminates/ro4350b-laminates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52580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DFD25-A48D-1762-3380-FB1CB2ECB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60 mil thick 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5164A7-F165-151C-C0BC-8F889E5D0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777" y="1690688"/>
            <a:ext cx="7051869" cy="47788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44D3F8E-879D-1859-03B5-7BCF6A0ECF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0739" y="1837060"/>
            <a:ext cx="6173061" cy="362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328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13666-5EEF-B9F1-95E9-EE3D19C03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resistors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38D12D-B043-AC96-FFD4-5977071A93D0}"/>
              </a:ext>
            </a:extLst>
          </p:cNvPr>
          <p:cNvSpPr txBox="1"/>
          <p:nvPr/>
        </p:nvSpPr>
        <p:spPr>
          <a:xfrm>
            <a:off x="1326" y="5846544"/>
            <a:ext cx="60946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https://www.digikey.com/en/products/detail/te-connectivity-passive-product/CPF0201B49R9E1/14007284</a:t>
            </a:r>
            <a:r>
              <a:rPr lang="en-US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B7B18E-0C95-2D8C-A8BD-DBCFC6FCB3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3413" y="1212224"/>
            <a:ext cx="7958010" cy="463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147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B1C7D5-30DC-DC94-793A-FAC3B8935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156" y="277489"/>
            <a:ext cx="8688012" cy="445832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A61120F-FE40-E00A-406A-6AD8AC4315B7}"/>
              </a:ext>
            </a:extLst>
          </p:cNvPr>
          <p:cNvSpPr/>
          <p:nvPr/>
        </p:nvSpPr>
        <p:spPr>
          <a:xfrm>
            <a:off x="3148717" y="2506650"/>
            <a:ext cx="874643" cy="665920"/>
          </a:xfrm>
          <a:prstGeom prst="rect">
            <a:avLst/>
          </a:prstGeom>
          <a:solidFill>
            <a:srgbClr val="FFFF00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793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20A081-BDF6-35E4-5D53-098E0C173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0300" y="0"/>
            <a:ext cx="8115282" cy="604729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6E8B7F4-F622-93E7-5587-14D9B9579B74}"/>
              </a:ext>
            </a:extLst>
          </p:cNvPr>
          <p:cNvSpPr txBox="1"/>
          <p:nvPr/>
        </p:nvSpPr>
        <p:spPr>
          <a:xfrm>
            <a:off x="2491033" y="5854294"/>
            <a:ext cx="60944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https://mpd.southwestmicrowave.com/product/292-04a-12-end-launch-supersma-27-ghz-jack-female-standard-block-500-thread-in/</a:t>
            </a:r>
            <a:r>
              <a:rPr lang="en-US" dirty="0"/>
              <a:t>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2FBA99-6DD2-A5EB-1C34-484214D4FEC7}"/>
              </a:ext>
            </a:extLst>
          </p:cNvPr>
          <p:cNvSpPr/>
          <p:nvPr/>
        </p:nvSpPr>
        <p:spPr>
          <a:xfrm>
            <a:off x="1852654" y="4126727"/>
            <a:ext cx="2353585" cy="206734"/>
          </a:xfrm>
          <a:prstGeom prst="rect">
            <a:avLst/>
          </a:prstGeom>
          <a:solidFill>
            <a:srgbClr val="FFFF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E5A0F7AC-489F-7821-27C5-1C33701790D4}"/>
              </a:ext>
            </a:extLst>
          </p:cNvPr>
          <p:cNvSpPr/>
          <p:nvPr/>
        </p:nvSpPr>
        <p:spPr>
          <a:xfrm>
            <a:off x="723566" y="4071068"/>
            <a:ext cx="1058293" cy="3657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528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7F25-6B27-BD40-1788-80635C0F0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SOLT Standards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5F840B-B5C3-65B8-C31E-E06A0892E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90500"/>
            <a:ext cx="6021452" cy="28487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F943DE-FD07-DC90-4230-35CED8FEF7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424" y="3370788"/>
            <a:ext cx="5289334" cy="34162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D624CDD-E65F-E66F-4306-45FAED79D5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1744" y="684837"/>
            <a:ext cx="6999509" cy="268595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EBDEBE5-5469-6170-C481-B3D2C9A8B243}"/>
              </a:ext>
            </a:extLst>
          </p:cNvPr>
          <p:cNvSpPr txBox="1"/>
          <p:nvPr/>
        </p:nvSpPr>
        <p:spPr>
          <a:xfrm>
            <a:off x="7028953" y="779228"/>
            <a:ext cx="12960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THRU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33A005-2B0D-44BA-8B93-75C641EE4279}"/>
              </a:ext>
            </a:extLst>
          </p:cNvPr>
          <p:cNvSpPr txBox="1"/>
          <p:nvPr/>
        </p:nvSpPr>
        <p:spPr>
          <a:xfrm>
            <a:off x="7132320" y="6173163"/>
            <a:ext cx="12960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OPEN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0EB6C7-F844-CB35-296F-2227281CB659}"/>
              </a:ext>
            </a:extLst>
          </p:cNvPr>
          <p:cNvSpPr txBox="1"/>
          <p:nvPr/>
        </p:nvSpPr>
        <p:spPr>
          <a:xfrm>
            <a:off x="10161767" y="3238257"/>
            <a:ext cx="12960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LOAD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363373-BD84-495B-1AD8-F43C528186A9}"/>
              </a:ext>
            </a:extLst>
          </p:cNvPr>
          <p:cNvSpPr txBox="1"/>
          <p:nvPr/>
        </p:nvSpPr>
        <p:spPr>
          <a:xfrm>
            <a:off x="6480770" y="3248594"/>
            <a:ext cx="1840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SHORT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CA5596-3CFD-7C7A-EB63-3CCC6BADE451}"/>
              </a:ext>
            </a:extLst>
          </p:cNvPr>
          <p:cNvSpPr txBox="1"/>
          <p:nvPr/>
        </p:nvSpPr>
        <p:spPr>
          <a:xfrm>
            <a:off x="3673503" y="5908100"/>
            <a:ext cx="17969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SWITCH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60789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E8DF3-4C38-5854-A4F3-CA299CE5A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Dual SP3T </a:t>
            </a:r>
            <a:r>
              <a:rPr lang="en-US" dirty="0" err="1"/>
              <a:t>Ecal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2A3E94-3F49-F82F-F0F7-5A332C956A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207" y="1690688"/>
            <a:ext cx="4823875" cy="49083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8E0B84-EFB3-FFF1-6234-522BB5AA14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2924" y="106194"/>
            <a:ext cx="2575812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0444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CDC2A-E5FD-2F03-F9BD-37E9D2A2E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3CE2B-BD9E-D98A-29BB-4772795549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Do we want to make an attempted impedance transformer to also test?</a:t>
            </a:r>
          </a:p>
          <a:p>
            <a:r>
              <a:rPr lang="en-US" dirty="0"/>
              <a:t>Do we want to switch to the full </a:t>
            </a:r>
            <a:r>
              <a:rPr lang="en-US" dirty="0" err="1"/>
              <a:t>Eurocircuits</a:t>
            </a:r>
            <a:r>
              <a:rPr lang="en-US" dirty="0"/>
              <a:t> </a:t>
            </a:r>
            <a:r>
              <a:rPr lang="en-US" dirty="0" err="1"/>
              <a:t>stackup</a:t>
            </a:r>
            <a:r>
              <a:rPr lang="en-US" dirty="0"/>
              <a:t> for the SP3T board?</a:t>
            </a:r>
          </a:p>
          <a:p>
            <a:r>
              <a:rPr lang="en-US" dirty="0"/>
              <a:t>Do we want 30 mil or 60 mil boards for the test boards?</a:t>
            </a:r>
          </a:p>
          <a:p>
            <a:r>
              <a:rPr lang="en-US" dirty="0"/>
              <a:t>Who orders the boards?</a:t>
            </a:r>
          </a:p>
          <a:p>
            <a:r>
              <a:rPr lang="en-US" dirty="0"/>
              <a:t>What else to make?</a:t>
            </a:r>
          </a:p>
          <a:p>
            <a:r>
              <a:rPr lang="en-US" dirty="0"/>
              <a:t>What about trying to measure TWPA in existing switch setup? Have they tried it? Should we try it? </a:t>
            </a:r>
          </a:p>
          <a:p>
            <a:r>
              <a:rPr lang="en-US" dirty="0"/>
              <a:t>Where to publish results on measurements?</a:t>
            </a:r>
          </a:p>
        </p:txBody>
      </p:sp>
    </p:spTree>
    <p:extLst>
      <p:ext uri="{BB962C8B-B14F-4D97-AF65-F5344CB8AC3E}">
        <p14:creationId xmlns:p14="http://schemas.microsoft.com/office/powerpoint/2010/main" val="1798665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57E34-516E-3DD1-EA21-0DBB9275C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Impedance matching network, version 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29D563-5831-9F89-A70F-EFB548194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622" y="2115445"/>
            <a:ext cx="6125430" cy="19910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F0812E3-077B-8F80-F84C-EC8E57146F09}"/>
              </a:ext>
            </a:extLst>
          </p:cNvPr>
          <p:cNvSpPr txBox="1"/>
          <p:nvPr/>
        </p:nvSpPr>
        <p:spPr>
          <a:xfrm>
            <a:off x="3991554" y="2981739"/>
            <a:ext cx="12907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600 pH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BD3891-A1A8-0FE0-381C-64ED95D6DF0E}"/>
              </a:ext>
            </a:extLst>
          </p:cNvPr>
          <p:cNvSpPr txBox="1"/>
          <p:nvPr/>
        </p:nvSpPr>
        <p:spPr>
          <a:xfrm>
            <a:off x="7545787" y="2800847"/>
            <a:ext cx="1135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0.3 pF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C1BC27-8877-DC53-EC14-8D9AE5190452}"/>
              </a:ext>
            </a:extLst>
          </p:cNvPr>
          <p:cNvSpPr txBox="1"/>
          <p:nvPr/>
        </p:nvSpPr>
        <p:spPr>
          <a:xfrm>
            <a:off x="8681034" y="2196536"/>
            <a:ext cx="12321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Switch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258BE0-E7D9-3F9C-515C-47C68B064194}"/>
              </a:ext>
            </a:extLst>
          </p:cNvPr>
          <p:cNvSpPr txBox="1"/>
          <p:nvPr/>
        </p:nvSpPr>
        <p:spPr>
          <a:xfrm>
            <a:off x="1419425" y="2196536"/>
            <a:ext cx="9925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Input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40E8BB6-7CBA-3E29-A6C8-E05F247D0B91}"/>
                  </a:ext>
                </a:extLst>
              </p:cNvPr>
              <p:cNvSpPr txBox="1"/>
              <p:nvPr/>
            </p:nvSpPr>
            <p:spPr>
              <a:xfrm>
                <a:off x="4200914" y="4531205"/>
                <a:ext cx="3344873" cy="112736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3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600 </m:t>
                            </m:r>
                            <m:r>
                              <a:rPr lang="en-US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𝑝𝐻</m:t>
                            </m:r>
                          </m:num>
                          <m:den>
                            <m:r>
                              <a:rPr lang="en-US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0.3 </m:t>
                            </m:r>
                            <m:r>
                              <a:rPr lang="en-US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𝑝𝐹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sz="3600" dirty="0"/>
                  <a:t> = 44.7 </a:t>
                </a:r>
                <a:r>
                  <a:rPr lang="el-GR" sz="3600" dirty="0"/>
                  <a:t>Ω</a:t>
                </a:r>
                <a:endParaRPr lang="en-US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40E8BB6-7CBA-3E29-A6C8-E05F247D0B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0914" y="4531205"/>
                <a:ext cx="3344873" cy="1127360"/>
              </a:xfrm>
              <a:prstGeom prst="rect">
                <a:avLst/>
              </a:prstGeom>
              <a:blipFill>
                <a:blip r:embed="rId3"/>
                <a:stretch>
                  <a:fillRect r="-3825" b="-1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41032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3775F-A07C-219A-8575-F3155624F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44.7 Ohm impedance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87DEFE-B18C-38C4-7FB4-9962B3022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95" y="2210155"/>
            <a:ext cx="5823124" cy="33287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F038E2-D987-2CB9-3F31-BFA6D34FB6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7819" y="2210155"/>
            <a:ext cx="5886616" cy="3365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8246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506D4-2486-AD4F-BEEC-B979EC125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have 4 of these: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23EDE0-1D0A-0A4E-7C03-927543C950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3915" y="1690688"/>
            <a:ext cx="6533875" cy="504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5750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273BED17-4D91-D8C7-E42D-B75C7FB240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5295855" y="1493105"/>
            <a:ext cx="4536383" cy="4536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D789DF2B-6B95-5C21-6DE5-1C1011C33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 flipV="1">
            <a:off x="1904922" y="1493104"/>
            <a:ext cx="4536383" cy="4536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AF2AAA7-2D62-95B8-8CC7-A0D9831C1A01}"/>
              </a:ext>
            </a:extLst>
          </p:cNvPr>
          <p:cNvSpPr/>
          <p:nvPr/>
        </p:nvSpPr>
        <p:spPr>
          <a:xfrm>
            <a:off x="5394929" y="1979629"/>
            <a:ext cx="970961" cy="4242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DUT1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0DE62D-D4CB-614C-2A7F-65AF4B475528}"/>
              </a:ext>
            </a:extLst>
          </p:cNvPr>
          <p:cNvSpPr/>
          <p:nvPr/>
        </p:nvSpPr>
        <p:spPr>
          <a:xfrm>
            <a:off x="5394928" y="2472337"/>
            <a:ext cx="970961" cy="4242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DUT2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BEF38C-3F17-E12C-0386-AEAF9F068820}"/>
              </a:ext>
            </a:extLst>
          </p:cNvPr>
          <p:cNvSpPr/>
          <p:nvPr/>
        </p:nvSpPr>
        <p:spPr>
          <a:xfrm>
            <a:off x="5394928" y="3411570"/>
            <a:ext cx="970961" cy="4242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DUT3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6CE555A-06EF-6AD8-1543-A6E527F10CA2}"/>
              </a:ext>
            </a:extLst>
          </p:cNvPr>
          <p:cNvSpPr/>
          <p:nvPr/>
        </p:nvSpPr>
        <p:spPr>
          <a:xfrm>
            <a:off x="5295855" y="5144050"/>
            <a:ext cx="1182363" cy="25966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SOLR</a:t>
            </a:r>
          </a:p>
        </p:txBody>
      </p:sp>
      <p:sp>
        <p:nvSpPr>
          <p:cNvPr id="10" name="Arrow: Left-Right 9">
            <a:extLst>
              <a:ext uri="{FF2B5EF4-FFF2-40B4-BE49-F238E27FC236}">
                <a16:creationId xmlns:a16="http://schemas.microsoft.com/office/drawing/2014/main" id="{6057BC25-D0D9-E833-3C75-881687734A51}"/>
              </a:ext>
            </a:extLst>
          </p:cNvPr>
          <p:cNvSpPr/>
          <p:nvPr/>
        </p:nvSpPr>
        <p:spPr>
          <a:xfrm>
            <a:off x="1329180" y="3007151"/>
            <a:ext cx="811411" cy="301658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Left-Right 10">
            <a:extLst>
              <a:ext uri="{FF2B5EF4-FFF2-40B4-BE49-F238E27FC236}">
                <a16:creationId xmlns:a16="http://schemas.microsoft.com/office/drawing/2014/main" id="{7AA88A14-997E-3FFC-9BF8-1FD36A636F2C}"/>
              </a:ext>
            </a:extLst>
          </p:cNvPr>
          <p:cNvSpPr/>
          <p:nvPr/>
        </p:nvSpPr>
        <p:spPr>
          <a:xfrm>
            <a:off x="9596570" y="2997724"/>
            <a:ext cx="811411" cy="301658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590F08-1DC7-1A85-5918-F4468C6DFFB3}"/>
              </a:ext>
            </a:extLst>
          </p:cNvPr>
          <p:cNvSpPr txBox="1"/>
          <p:nvPr/>
        </p:nvSpPr>
        <p:spPr>
          <a:xfrm>
            <a:off x="2609215" y="2371670"/>
            <a:ext cx="1145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SPDT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5A69BE-5738-F186-83B5-7E9F05588140}"/>
              </a:ext>
            </a:extLst>
          </p:cNvPr>
          <p:cNvSpPr txBox="1"/>
          <p:nvPr/>
        </p:nvSpPr>
        <p:spPr>
          <a:xfrm>
            <a:off x="4037280" y="1657432"/>
            <a:ext cx="1145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SPDT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B1BFBD-2893-44AA-B7CE-6705FDAD81BD}"/>
              </a:ext>
            </a:extLst>
          </p:cNvPr>
          <p:cNvSpPr txBox="1"/>
          <p:nvPr/>
        </p:nvSpPr>
        <p:spPr>
          <a:xfrm>
            <a:off x="4037279" y="3097376"/>
            <a:ext cx="1145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SPDT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280F621-2FAB-1B1D-73D1-7591521C4F83}"/>
              </a:ext>
            </a:extLst>
          </p:cNvPr>
          <p:cNvSpPr txBox="1"/>
          <p:nvPr/>
        </p:nvSpPr>
        <p:spPr>
          <a:xfrm>
            <a:off x="7032284" y="1657432"/>
            <a:ext cx="1145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SPDT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E927C8-D5FF-F6EF-A384-7495F64DD292}"/>
              </a:ext>
            </a:extLst>
          </p:cNvPr>
          <p:cNvSpPr txBox="1"/>
          <p:nvPr/>
        </p:nvSpPr>
        <p:spPr>
          <a:xfrm>
            <a:off x="7032283" y="3097376"/>
            <a:ext cx="1145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SPDT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D5B97B0-686F-C337-9920-95DF37E8FCF1}"/>
              </a:ext>
            </a:extLst>
          </p:cNvPr>
          <p:cNvSpPr txBox="1"/>
          <p:nvPr/>
        </p:nvSpPr>
        <p:spPr>
          <a:xfrm>
            <a:off x="8451119" y="2371670"/>
            <a:ext cx="1145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SPDT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9BA73A3-446A-6AE3-4FDE-78F2A57D935F}"/>
              </a:ext>
            </a:extLst>
          </p:cNvPr>
          <p:cNvSpPr txBox="1"/>
          <p:nvPr/>
        </p:nvSpPr>
        <p:spPr>
          <a:xfrm>
            <a:off x="6676470" y="5098644"/>
            <a:ext cx="681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SP3T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46A1D3F-493D-EB30-A25B-B9DC25AC625D}"/>
              </a:ext>
            </a:extLst>
          </p:cNvPr>
          <p:cNvSpPr txBox="1"/>
          <p:nvPr/>
        </p:nvSpPr>
        <p:spPr>
          <a:xfrm>
            <a:off x="4402008" y="5115769"/>
            <a:ext cx="681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SP3T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386F8717-9A69-FFCA-5AA6-A73109A3C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TWPA-TRON</a:t>
            </a:r>
          </a:p>
        </p:txBody>
      </p:sp>
    </p:spTree>
    <p:extLst>
      <p:ext uri="{BB962C8B-B14F-4D97-AF65-F5344CB8AC3E}">
        <p14:creationId xmlns:p14="http://schemas.microsoft.com/office/powerpoint/2010/main" val="36151198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985AE81A-ACC1-1432-91FF-92668CE0F4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5873099" y="1945425"/>
            <a:ext cx="4208084" cy="4208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7C51D60-39BD-F103-1DAB-91F99AE217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 flipV="1">
            <a:off x="1665015" y="1945425"/>
            <a:ext cx="4208084" cy="4208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663F26C-B882-A68D-8CAF-403C3010CE9E}"/>
              </a:ext>
            </a:extLst>
          </p:cNvPr>
          <p:cNvSpPr txBox="1">
            <a:spLocks/>
          </p:cNvSpPr>
          <p:nvPr/>
        </p:nvSpPr>
        <p:spPr>
          <a:xfrm>
            <a:off x="576996" y="18892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TWPA-TRON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012F88-D9EF-10B9-61D2-7558CCB8C595}"/>
              </a:ext>
            </a:extLst>
          </p:cNvPr>
          <p:cNvSpPr/>
          <p:nvPr/>
        </p:nvSpPr>
        <p:spPr>
          <a:xfrm>
            <a:off x="5387619" y="2253003"/>
            <a:ext cx="970961" cy="4242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DUT1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43DA5C-9F0B-E508-13C9-00E27823DF66}"/>
              </a:ext>
            </a:extLst>
          </p:cNvPr>
          <p:cNvSpPr/>
          <p:nvPr/>
        </p:nvSpPr>
        <p:spPr>
          <a:xfrm>
            <a:off x="5387618" y="2745711"/>
            <a:ext cx="970961" cy="4242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DUT2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08A0EC-9C20-3133-FAB2-2FCDC8A80319}"/>
              </a:ext>
            </a:extLst>
          </p:cNvPr>
          <p:cNvSpPr/>
          <p:nvPr/>
        </p:nvSpPr>
        <p:spPr>
          <a:xfrm>
            <a:off x="5387617" y="3707090"/>
            <a:ext cx="970961" cy="4242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DUT3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AA2CFE-6584-15FF-4ED2-E7BACC5BDDEF}"/>
              </a:ext>
            </a:extLst>
          </p:cNvPr>
          <p:cNvSpPr/>
          <p:nvPr/>
        </p:nvSpPr>
        <p:spPr>
          <a:xfrm>
            <a:off x="3769057" y="5142975"/>
            <a:ext cx="711526" cy="4242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DA4FAA-DF75-AE4E-C2CA-84D5D9761A07}"/>
              </a:ext>
            </a:extLst>
          </p:cNvPr>
          <p:cNvSpPr/>
          <p:nvPr/>
        </p:nvSpPr>
        <p:spPr>
          <a:xfrm>
            <a:off x="7265615" y="5142975"/>
            <a:ext cx="711526" cy="4242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SOL</a:t>
            </a:r>
          </a:p>
        </p:txBody>
      </p:sp>
      <p:sp>
        <p:nvSpPr>
          <p:cNvPr id="12" name="Arrow: Left-Right 11">
            <a:extLst>
              <a:ext uri="{FF2B5EF4-FFF2-40B4-BE49-F238E27FC236}">
                <a16:creationId xmlns:a16="http://schemas.microsoft.com/office/drawing/2014/main" id="{A23320F9-FF96-9594-CA9E-D7308A85432C}"/>
              </a:ext>
            </a:extLst>
          </p:cNvPr>
          <p:cNvSpPr/>
          <p:nvPr/>
        </p:nvSpPr>
        <p:spPr>
          <a:xfrm>
            <a:off x="773828" y="3278171"/>
            <a:ext cx="811411" cy="301658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Left-Right 12">
            <a:extLst>
              <a:ext uri="{FF2B5EF4-FFF2-40B4-BE49-F238E27FC236}">
                <a16:creationId xmlns:a16="http://schemas.microsoft.com/office/drawing/2014/main" id="{F0A0F10D-DF7E-C7A4-BCCA-6AC381116579}"/>
              </a:ext>
            </a:extLst>
          </p:cNvPr>
          <p:cNvSpPr/>
          <p:nvPr/>
        </p:nvSpPr>
        <p:spPr>
          <a:xfrm>
            <a:off x="10160957" y="3278171"/>
            <a:ext cx="811411" cy="301658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A24889-8AC1-73B4-3586-73A6F71816F3}"/>
              </a:ext>
            </a:extLst>
          </p:cNvPr>
          <p:cNvSpPr txBox="1"/>
          <p:nvPr/>
        </p:nvSpPr>
        <p:spPr>
          <a:xfrm>
            <a:off x="3957396" y="1911952"/>
            <a:ext cx="711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SPDT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EF14E5-8EA4-DD25-0517-B757947E5EA4}"/>
              </a:ext>
            </a:extLst>
          </p:cNvPr>
          <p:cNvSpPr txBox="1"/>
          <p:nvPr/>
        </p:nvSpPr>
        <p:spPr>
          <a:xfrm>
            <a:off x="3957396" y="3359534"/>
            <a:ext cx="711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SPDT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7A59DB-4692-C5FD-5967-1197EABDB340}"/>
              </a:ext>
            </a:extLst>
          </p:cNvPr>
          <p:cNvSpPr txBox="1"/>
          <p:nvPr/>
        </p:nvSpPr>
        <p:spPr>
          <a:xfrm>
            <a:off x="7077273" y="1935621"/>
            <a:ext cx="711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SPDT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D5B66B-55C2-5DE3-EA9B-11E1C3D2D0A4}"/>
              </a:ext>
            </a:extLst>
          </p:cNvPr>
          <p:cNvSpPr txBox="1"/>
          <p:nvPr/>
        </p:nvSpPr>
        <p:spPr>
          <a:xfrm>
            <a:off x="7077273" y="3383203"/>
            <a:ext cx="711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SPDT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0D9149-709A-C7C8-61A7-77C6FE9AF555}"/>
              </a:ext>
            </a:extLst>
          </p:cNvPr>
          <p:cNvSpPr txBox="1"/>
          <p:nvPr/>
        </p:nvSpPr>
        <p:spPr>
          <a:xfrm>
            <a:off x="6358578" y="4931584"/>
            <a:ext cx="711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SPDT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74B2922-4186-F0FF-3316-8E8761AC92A7}"/>
              </a:ext>
            </a:extLst>
          </p:cNvPr>
          <p:cNvSpPr txBox="1"/>
          <p:nvPr/>
        </p:nvSpPr>
        <p:spPr>
          <a:xfrm>
            <a:off x="4610299" y="4958309"/>
            <a:ext cx="711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SPDT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7B2BAC-86B8-432F-EBE4-5BBB1617D3DF}"/>
              </a:ext>
            </a:extLst>
          </p:cNvPr>
          <p:cNvSpPr txBox="1"/>
          <p:nvPr/>
        </p:nvSpPr>
        <p:spPr>
          <a:xfrm>
            <a:off x="8531850" y="2669149"/>
            <a:ext cx="711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SPDT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B291ED-9E5C-A629-1B7E-0DEDCA3A67C3}"/>
              </a:ext>
            </a:extLst>
          </p:cNvPr>
          <p:cNvSpPr txBox="1"/>
          <p:nvPr/>
        </p:nvSpPr>
        <p:spPr>
          <a:xfrm>
            <a:off x="2502821" y="2669147"/>
            <a:ext cx="711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SPDT</a:t>
            </a:r>
          </a:p>
        </p:txBody>
      </p:sp>
    </p:spTree>
    <p:extLst>
      <p:ext uri="{BB962C8B-B14F-4D97-AF65-F5344CB8AC3E}">
        <p14:creationId xmlns:p14="http://schemas.microsoft.com/office/powerpoint/2010/main" val="24833588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7900</TotalTime>
  <Words>214</Words>
  <Application>Microsoft Office PowerPoint</Application>
  <PresentationFormat>Widescreen</PresentationFormat>
  <Paragraphs>60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Cambria Math</vt:lpstr>
      <vt:lpstr>Office Theme</vt:lpstr>
      <vt:lpstr>MM4250 Cal PCBs and  Dual SP3T Ecal</vt:lpstr>
      <vt:lpstr>CPW-G Rogers 4350 B 0.762 mm (30 mils)</vt:lpstr>
      <vt:lpstr>60 mil thick board</vt:lpstr>
      <vt:lpstr>Load resistors</vt:lpstr>
      <vt:lpstr>PowerPoint Presentation</vt:lpstr>
      <vt:lpstr>PowerPoint Presentation</vt:lpstr>
      <vt:lpstr>SOLT Standards</vt:lpstr>
      <vt:lpstr>Dual SP3T Ecal</vt:lpstr>
      <vt:lpstr>Questions</vt:lpstr>
      <vt:lpstr>Impedance matching network, version 1</vt:lpstr>
      <vt:lpstr>44.7 Ohm impedance</vt:lpstr>
      <vt:lpstr>We have 4 of these:</vt:lpstr>
      <vt:lpstr>TWPA-TRON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Spietz, Lafe F. (Fed)</dc:creator>
  <cp:lastModifiedBy>Spietz, Lafe F. (Fed)</cp:lastModifiedBy>
  <cp:revision>47</cp:revision>
  <cp:lastPrinted>2026-02-17T15:32:57Z</cp:lastPrinted>
  <dcterms:created xsi:type="dcterms:W3CDTF">2026-02-10T17:59:13Z</dcterms:created>
  <dcterms:modified xsi:type="dcterms:W3CDTF">2026-02-17T18:57:33Z</dcterms:modified>
</cp:coreProperties>
</file>