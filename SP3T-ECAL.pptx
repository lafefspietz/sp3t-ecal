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  <p:sldId id="263" r:id="rId4"/>
    <p:sldId id="258" r:id="rId5"/>
    <p:sldId id="260" r:id="rId6"/>
    <p:sldId id="261" r:id="rId7"/>
    <p:sldId id="259" r:id="rId8"/>
    <p:sldId id="262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</p:sldIdLst>
  <p:sldSz cx="12192000" cy="6858000"/>
  <p:notesSz cx="7023100" cy="93091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FFF0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6980" autoAdjust="0"/>
    <p:restoredTop sz="94660"/>
  </p:normalViewPr>
  <p:slideViewPr>
    <p:cSldViewPr snapToGrid="0">
      <p:cViewPr varScale="1">
        <p:scale>
          <a:sx n="118" d="100"/>
          <a:sy n="118" d="100"/>
        </p:scale>
        <p:origin x="198" y="9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" Type="http://schemas.openxmlformats.org/officeDocument/2006/relationships/slide" Target="slides/slide2.xml"/><Relationship Id="rId21" Type="http://schemas.openxmlformats.org/officeDocument/2006/relationships/theme" Target="theme/theme1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tableStyles" Target="tableStyle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AD129CC-C84B-DC25-8B4F-2F3D7C73B452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A4A7E4AB-B76D-D775-CD26-E2BF311018BF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FBA5908-304A-81F1-17E1-0B327977EEA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053F05D-9385-4B1A-9374-4A2BEAD69DDD}" type="datetimeFigureOut">
              <a:rPr lang="en-US" smtClean="0"/>
              <a:t>3/4/2026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3EA1195-7236-9105-E1B4-D4F4749BFAB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41B1D0F-13C5-DFF3-33E2-90F81A39D80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9527016-2CC9-4DDA-8CDC-38A855A27A1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95407175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30BB548-CB21-D725-2B31-8022E8101DE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02558E3-4C84-A84C-4B45-F29273DE2E2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8ADD0AD-9956-7741-45E2-1202ED0904F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053F05D-9385-4B1A-9374-4A2BEAD69DDD}" type="datetimeFigureOut">
              <a:rPr lang="en-US" smtClean="0"/>
              <a:t>3/4/2026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111B75F-89B0-0500-EB20-952FD5760C3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9496C5E-AC5F-BCD0-631F-B6E7246EE63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9527016-2CC9-4DDA-8CDC-38A855A27A1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8310356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FD8B7A8-9DC0-2EA7-DE3E-FDCE314E1A5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ECFF1332-5081-5624-0D03-748677875AC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192A5BB-3536-E9E4-1506-4946F757845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053F05D-9385-4B1A-9374-4A2BEAD69DDD}" type="datetimeFigureOut">
              <a:rPr lang="en-US" smtClean="0"/>
              <a:t>3/4/2026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1AB3964-5352-BAF2-1811-C78AE8F9150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803EF86-3D12-9397-090D-EF4AF263195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9527016-2CC9-4DDA-8CDC-38A855A27A1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84455653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DB4C383-6180-EB5C-AF4B-1458D046ADC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1DB136A-BE7C-8DD5-7DE6-26AA06F5B443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E2E32984-A826-0955-D295-4C2F0708FAC1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31CF5DD3-BE6F-4B3F-5019-547D438513B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053F05D-9385-4B1A-9374-4A2BEAD69DDD}" type="datetimeFigureOut">
              <a:rPr lang="en-US" smtClean="0"/>
              <a:t>3/4/2026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A4C1ACEB-9F88-BCDA-355B-B146D38EE78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47CD11C2-0173-9705-3A43-BFAB9C939DC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9527016-2CC9-4DDA-8CDC-38A855A27A1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4321191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06895A8-DC58-B299-A755-C7253D5228E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87B9068C-186E-769E-E215-48D6D26F72F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CB01C293-E823-C32E-F034-F051890EE891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04CBFF2C-1CAD-C5F3-C691-F12F55BD3145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EFC80169-9576-C7B1-C7D8-D36D323CFBEC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E5B30AD6-57D6-7DB9-6D8C-DD4F22285B3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053F05D-9385-4B1A-9374-4A2BEAD69DDD}" type="datetimeFigureOut">
              <a:rPr lang="en-US" smtClean="0"/>
              <a:t>3/4/2026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643444AF-D2A0-D017-D6F8-4EFBDC245E4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D7505401-95E5-64B5-9933-D734721F190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9527016-2CC9-4DDA-8CDC-38A855A27A1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6426289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7115D6F-5179-13D2-4601-176C4A2EA48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6C888938-E033-72D4-13E9-B211726EB95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053F05D-9385-4B1A-9374-4A2BEAD69DDD}" type="datetimeFigureOut">
              <a:rPr lang="en-US" smtClean="0"/>
              <a:t>3/4/2026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C261EFD0-2D4E-D95A-ED7F-6F4E3D4DA09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F52E9354-8840-D1AD-CFBD-DD4B11A6F18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9527016-2CC9-4DDA-8CDC-38A855A27A1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58720209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8226E047-2A66-C26E-84FB-2C0E6839494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053F05D-9385-4B1A-9374-4A2BEAD69DDD}" type="datetimeFigureOut">
              <a:rPr lang="en-US" smtClean="0"/>
              <a:t>3/4/2026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95B0676F-9303-BBFE-1D2A-85281A59765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D5A25C2-E54A-400B-8485-D0128EC4A74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9527016-2CC9-4DDA-8CDC-38A855A27A1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66703916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D12D3B1-8693-EBD9-21BE-738CC636C57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1D35EFB-C371-2E1C-04BF-619B5E4F9CC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230FB59B-68CC-46D9-20E1-A3ECEAE0EFFD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0C8D3251-9A77-347F-5391-B8FC12CA4F8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053F05D-9385-4B1A-9374-4A2BEAD69DDD}" type="datetimeFigureOut">
              <a:rPr lang="en-US" smtClean="0"/>
              <a:t>3/4/2026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193B4CCF-3E3D-15C2-B9AD-077D9119C9E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EFB61E1E-0075-8693-70A8-6882B44618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9527016-2CC9-4DDA-8CDC-38A855A27A1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48119038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13EFFF2-88C3-6323-B807-9FD3E2E2211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A2D8135C-EFAE-B0B9-BEF5-7800B7EC2CA5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2F050F3A-07AE-DF5C-F250-938449E70157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194C4971-84DD-6B00-C7AE-4A1C1E91781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053F05D-9385-4B1A-9374-4A2BEAD69DDD}" type="datetimeFigureOut">
              <a:rPr lang="en-US" smtClean="0"/>
              <a:t>3/4/2026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8764E8FB-11ED-BF95-C027-2B42F403DA5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518802FE-682A-8E03-BC81-7E4A1204804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9527016-2CC9-4DDA-8CDC-38A855A27A1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1841007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2E8C9B1-AE8F-274A-EC61-D17DE7381CA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702A472D-EF48-03AC-B44F-F3AE43F641C6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F0A5EE5-3E7B-DF55-C870-0043C1B8088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053F05D-9385-4B1A-9374-4A2BEAD69DDD}" type="datetimeFigureOut">
              <a:rPr lang="en-US" smtClean="0"/>
              <a:t>3/4/2026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B83C713-D6A4-8E0E-6035-05C88B4C523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96707BE-4101-6DF8-9F3C-A1D848E8293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9527016-2CC9-4DDA-8CDC-38A855A27A1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3490078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1E91EF59-B4A3-3200-6C21-B3B53ADD71D0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C1BF3334-EAAA-44E0-5222-346826E80693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1D5B191-2C5F-B4CD-713D-22358BEF133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053F05D-9385-4B1A-9374-4A2BEAD69DDD}" type="datetimeFigureOut">
              <a:rPr lang="en-US" smtClean="0"/>
              <a:t>3/4/2026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0C4E974-4A23-20A9-8D34-AACF35AFD62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5AFD5B5-3D2C-44FA-04B0-7CA2B9D4A95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9527016-2CC9-4DDA-8CDC-38A855A27A1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96847901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356DC04C-6492-698C-6E05-76B37A33CAB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BAB851F-3678-330C-6461-1CF76D72658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FD67956-AEA7-C507-5F52-E3308778EA27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7053F05D-9385-4B1A-9374-4A2BEAD69DDD}" type="datetimeFigureOut">
              <a:rPr lang="en-US" smtClean="0"/>
              <a:t>3/4/2026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BFFD7F6-E7A6-41DE-76E7-850A372766A7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1CE2E22-3554-EA83-56ED-7FC8FDFB874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C9527016-2CC9-4DDA-8CDC-38A855A27A1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1463791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Relationship Id="rId4" Type="http://schemas.openxmlformats.org/officeDocument/2006/relationships/hyperlink" Target="https://rogerscorp.com/advanced-electronics-solutions/ro4000-series-laminates/ro4350b-laminates" TargetMode="Externa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hyperlink" Target="https://www.digikey.com/en/products/detail/te-connectivity-passive-product/CPF0201B49R9E1/14007284" TargetMode="External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hyperlink" Target="https://mpd.southwestmicrowave.com/product/292-04a-12-end-launch-supersma-27-ghz-jack-female-standard-block-500-thread-in/" TargetMode="External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0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png"/><Relationship Id="rId2" Type="http://schemas.openxmlformats.org/officeDocument/2006/relationships/image" Target="../media/image21.png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4.png"/><Relationship Id="rId2" Type="http://schemas.openxmlformats.org/officeDocument/2006/relationships/image" Target="../media/image23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51DE273-ED16-5F2C-7E67-E943B87EA9B4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>
            <a:normAutofit fontScale="90000"/>
          </a:bodyPr>
          <a:lstStyle/>
          <a:p>
            <a:r>
              <a:rPr lang="en-US" dirty="0"/>
              <a:t>MM4250 Cal PCBs</a:t>
            </a:r>
            <a:br>
              <a:rPr lang="en-US" dirty="0"/>
            </a:br>
            <a:r>
              <a:rPr lang="en-US" dirty="0"/>
              <a:t>and </a:t>
            </a:r>
            <a:br>
              <a:rPr lang="en-US" dirty="0"/>
            </a:br>
            <a:r>
              <a:rPr lang="en-US" dirty="0"/>
              <a:t>Dual SP3T </a:t>
            </a:r>
            <a:r>
              <a:rPr lang="en-US" dirty="0" err="1"/>
              <a:t>Ecal</a:t>
            </a:r>
            <a:endParaRPr lang="en-US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1ECE6C2F-D04A-D832-3502-FE0D6D58EC77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Lafe Spietz</a:t>
            </a:r>
          </a:p>
          <a:p>
            <a:r>
              <a:rPr lang="en-US" dirty="0"/>
              <a:t>NIST</a:t>
            </a:r>
          </a:p>
          <a:p>
            <a:r>
              <a:rPr lang="en-US" dirty="0"/>
              <a:t>Boulder, CO</a:t>
            </a:r>
          </a:p>
        </p:txBody>
      </p:sp>
    </p:spTree>
    <p:extLst>
      <p:ext uri="{BB962C8B-B14F-4D97-AF65-F5344CB8AC3E}">
        <p14:creationId xmlns:p14="http://schemas.microsoft.com/office/powerpoint/2010/main" val="3063399081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E660DD7-F3DF-E53C-F57F-EDE121D2BA1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CPW-G Rogers 4350 B 0.762 mm (30 mils)</a:t>
            </a:r>
          </a:p>
        </p:txBody>
      </p:sp>
      <p:pic>
        <p:nvPicPr>
          <p:cNvPr id="4" name="Content Placeholder 3">
            <a:extLst>
              <a:ext uri="{FF2B5EF4-FFF2-40B4-BE49-F238E27FC236}">
                <a16:creationId xmlns:a16="http://schemas.microsoft.com/office/drawing/2014/main" id="{104C0C4F-D5FB-C8D2-A3A7-25460B8EB3D8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5475911" y="2191253"/>
            <a:ext cx="6106377" cy="3572374"/>
          </a:xfrm>
          <a:prstGeom prst="rect">
            <a:avLst/>
          </a:prstGeom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4BA7C07C-D344-78BC-C71A-CDCA4C8EF0D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42296" y="1478942"/>
            <a:ext cx="4825035" cy="5220031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161CE6DC-718E-AC42-0F80-20F182B58F90}"/>
              </a:ext>
            </a:extLst>
          </p:cNvPr>
          <p:cNvSpPr txBox="1"/>
          <p:nvPr/>
        </p:nvSpPr>
        <p:spPr>
          <a:xfrm>
            <a:off x="5583804" y="5941026"/>
            <a:ext cx="6094674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>
                <a:hlinkClick r:id="rId4"/>
              </a:rPr>
              <a:t>https://rogerscorp.com/advanced-electronics-solutions/ro4000-series-laminates/ro4350b-laminates</a:t>
            </a:r>
            <a:r>
              <a:rPr lang="en-US" dirty="0"/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3652580099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0EDFD25-A48D-1762-3380-FB1CB2ECB99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60 mil thick board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2F5164A7-F165-151C-C0BC-8F889E5D0A5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5777" y="1690688"/>
            <a:ext cx="7051869" cy="4778805"/>
          </a:xfrm>
          <a:prstGeom prst="rect">
            <a:avLst/>
          </a:prstGeom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044D3F8E-879D-1859-03B5-7BCF6A0ECF2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80739" y="1837060"/>
            <a:ext cx="6173061" cy="362953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89328796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3813666-5EEF-B9F1-95E9-EE3D19C0318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Load resistors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6F38D12D-B043-AC96-FFD4-5977071A93D0}"/>
              </a:ext>
            </a:extLst>
          </p:cNvPr>
          <p:cNvSpPr txBox="1"/>
          <p:nvPr/>
        </p:nvSpPr>
        <p:spPr>
          <a:xfrm>
            <a:off x="1326" y="5846544"/>
            <a:ext cx="6094674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>
                <a:hlinkClick r:id="rId2"/>
              </a:rPr>
              <a:t>https://www.digikey.com/en/products/detail/te-connectivity-passive-product/CPF0201B49R9E1/14007284</a:t>
            </a:r>
            <a:r>
              <a:rPr lang="en-US" dirty="0"/>
              <a:t> </a:t>
            </a: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7AB7B18E-0C95-2D8C-A8BD-DBCFC6FCB31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933413" y="1212224"/>
            <a:ext cx="7958010" cy="463432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18147152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93B1C7D5-30DC-DC94-793A-FAC3B89353C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09156" y="277489"/>
            <a:ext cx="8688012" cy="4458322"/>
          </a:xfrm>
          <a:prstGeom prst="rect">
            <a:avLst/>
          </a:prstGeom>
        </p:spPr>
      </p:pic>
      <p:sp>
        <p:nvSpPr>
          <p:cNvPr id="6" name="Rectangle 5">
            <a:extLst>
              <a:ext uri="{FF2B5EF4-FFF2-40B4-BE49-F238E27FC236}">
                <a16:creationId xmlns:a16="http://schemas.microsoft.com/office/drawing/2014/main" id="{8A61120F-FE40-E00A-406A-6AD8AC4315B7}"/>
              </a:ext>
            </a:extLst>
          </p:cNvPr>
          <p:cNvSpPr/>
          <p:nvPr/>
        </p:nvSpPr>
        <p:spPr>
          <a:xfrm>
            <a:off x="3148717" y="2506650"/>
            <a:ext cx="874643" cy="665920"/>
          </a:xfrm>
          <a:prstGeom prst="rect">
            <a:avLst/>
          </a:prstGeom>
          <a:solidFill>
            <a:srgbClr val="FFFF00">
              <a:alpha val="23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772793600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9320A081-BDF6-35E4-5D53-098E0C173B0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10300" y="0"/>
            <a:ext cx="8115282" cy="6047295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86E8B7F4-F622-93E7-5587-14D9B9579B74}"/>
              </a:ext>
            </a:extLst>
          </p:cNvPr>
          <p:cNvSpPr txBox="1"/>
          <p:nvPr/>
        </p:nvSpPr>
        <p:spPr>
          <a:xfrm>
            <a:off x="2491033" y="5854294"/>
            <a:ext cx="6094428" cy="9233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>
                <a:hlinkClick r:id="rId3"/>
              </a:rPr>
              <a:t>https://mpd.southwestmicrowave.com/product/292-04a-12-end-launch-supersma-27-ghz-jack-female-standard-block-500-thread-in/</a:t>
            </a:r>
            <a:r>
              <a:rPr lang="en-US" dirty="0"/>
              <a:t> </a:t>
            </a: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EC2FBA99-6DD2-A5EB-1C34-484214D4FEC7}"/>
              </a:ext>
            </a:extLst>
          </p:cNvPr>
          <p:cNvSpPr/>
          <p:nvPr/>
        </p:nvSpPr>
        <p:spPr>
          <a:xfrm>
            <a:off x="1852654" y="4126727"/>
            <a:ext cx="2353585" cy="206734"/>
          </a:xfrm>
          <a:prstGeom prst="rect">
            <a:avLst/>
          </a:prstGeom>
          <a:solidFill>
            <a:srgbClr val="FFFF00">
              <a:alpha val="34902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3" name="Arrow: Right 2">
            <a:extLst>
              <a:ext uri="{FF2B5EF4-FFF2-40B4-BE49-F238E27FC236}">
                <a16:creationId xmlns:a16="http://schemas.microsoft.com/office/drawing/2014/main" id="{E5A0F7AC-489F-7821-27C5-1C33701790D4}"/>
              </a:ext>
            </a:extLst>
          </p:cNvPr>
          <p:cNvSpPr/>
          <p:nvPr/>
        </p:nvSpPr>
        <p:spPr>
          <a:xfrm>
            <a:off x="723566" y="4071068"/>
            <a:ext cx="1058293" cy="365760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4552852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2F87F25-6B27-BD40-1788-80635C0F054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SOLT Standards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D65F840B-B5C3-65B8-C31E-E06A0892EF3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3690500"/>
            <a:ext cx="6021452" cy="2848739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3EF943DE-FD07-DC90-4230-35CED8FEF76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43424" y="3370788"/>
            <a:ext cx="5289334" cy="3416222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4D624CDD-E65F-E66F-4306-45FAED79D59A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821744" y="684837"/>
            <a:ext cx="6999509" cy="2685951"/>
          </a:xfrm>
          <a:prstGeom prst="rect">
            <a:avLst/>
          </a:prstGeom>
        </p:spPr>
      </p:pic>
      <p:sp>
        <p:nvSpPr>
          <p:cNvPr id="10" name="TextBox 9">
            <a:extLst>
              <a:ext uri="{FF2B5EF4-FFF2-40B4-BE49-F238E27FC236}">
                <a16:creationId xmlns:a16="http://schemas.microsoft.com/office/drawing/2014/main" id="{AEBDEBE5-5469-6170-C481-B3D2C9A8B243}"/>
              </a:ext>
            </a:extLst>
          </p:cNvPr>
          <p:cNvSpPr txBox="1"/>
          <p:nvPr/>
        </p:nvSpPr>
        <p:spPr>
          <a:xfrm>
            <a:off x="7028953" y="779228"/>
            <a:ext cx="1296063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200" dirty="0">
                <a:solidFill>
                  <a:srgbClr val="FF0000"/>
                </a:solidFill>
              </a:rPr>
              <a:t>THRU</a:t>
            </a:r>
            <a:endParaRPr lang="en-US" dirty="0">
              <a:solidFill>
                <a:srgbClr val="FF0000"/>
              </a:solidFill>
            </a:endParaRP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2833A005-2B0D-44BA-8B93-75C641EE4279}"/>
              </a:ext>
            </a:extLst>
          </p:cNvPr>
          <p:cNvSpPr txBox="1"/>
          <p:nvPr/>
        </p:nvSpPr>
        <p:spPr>
          <a:xfrm>
            <a:off x="7132320" y="6173163"/>
            <a:ext cx="1296063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200" dirty="0">
                <a:solidFill>
                  <a:srgbClr val="FF0000"/>
                </a:solidFill>
              </a:rPr>
              <a:t>OPEN</a:t>
            </a:r>
            <a:endParaRPr lang="en-US" dirty="0">
              <a:solidFill>
                <a:srgbClr val="FF0000"/>
              </a:solidFill>
            </a:endParaRP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680EB6C7-F844-CB35-296F-2227281CB659}"/>
              </a:ext>
            </a:extLst>
          </p:cNvPr>
          <p:cNvSpPr txBox="1"/>
          <p:nvPr/>
        </p:nvSpPr>
        <p:spPr>
          <a:xfrm>
            <a:off x="10161767" y="3238257"/>
            <a:ext cx="1296063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200" dirty="0">
                <a:solidFill>
                  <a:srgbClr val="FF0000"/>
                </a:solidFill>
              </a:rPr>
              <a:t>LOAD</a:t>
            </a:r>
            <a:endParaRPr lang="en-US" dirty="0">
              <a:solidFill>
                <a:srgbClr val="FF0000"/>
              </a:solidFill>
            </a:endParaRP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F7363373-BD84-495B-1AD8-F43C528186A9}"/>
              </a:ext>
            </a:extLst>
          </p:cNvPr>
          <p:cNvSpPr txBox="1"/>
          <p:nvPr/>
        </p:nvSpPr>
        <p:spPr>
          <a:xfrm>
            <a:off x="6480770" y="3248594"/>
            <a:ext cx="1840728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200" dirty="0">
                <a:solidFill>
                  <a:srgbClr val="FF0000"/>
                </a:solidFill>
              </a:rPr>
              <a:t>SHORT</a:t>
            </a:r>
            <a:endParaRPr lang="en-US" dirty="0">
              <a:solidFill>
                <a:srgbClr val="FF0000"/>
              </a:solidFill>
            </a:endParaRP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2BCA5596-3CFD-7C7A-EB63-3CCC6BADE451}"/>
              </a:ext>
            </a:extLst>
          </p:cNvPr>
          <p:cNvSpPr txBox="1"/>
          <p:nvPr/>
        </p:nvSpPr>
        <p:spPr>
          <a:xfrm>
            <a:off x="3673503" y="5908100"/>
            <a:ext cx="1796994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200" dirty="0">
                <a:solidFill>
                  <a:srgbClr val="FF0000"/>
                </a:solidFill>
              </a:rPr>
              <a:t>SWITCH</a:t>
            </a:r>
            <a:endParaRPr lang="en-US" dirty="0">
              <a:solidFill>
                <a:srgbClr val="FF00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386078958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B3E8DF3-4C38-5854-A4F3-CA299CE5A6B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Dual SP3T </a:t>
            </a:r>
            <a:r>
              <a:rPr lang="en-US" dirty="0" err="1"/>
              <a:t>Ecal</a:t>
            </a:r>
            <a:endParaRPr lang="en-US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362A3E94-3F49-F82F-F0F7-5A332C956A6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51207" y="1690688"/>
            <a:ext cx="4823875" cy="4908381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A88E0B84-EFB3-FFF1-6234-522BB5AA149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122924" y="106194"/>
            <a:ext cx="2575812" cy="649287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08044481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9DCDC2A-E5FD-2F03-F9BD-37E9D2A2E3E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Questions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F83CE2B-BD9E-D98A-29BB-47727955495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r>
              <a:rPr lang="en-US" dirty="0"/>
              <a:t>Do we want to make an attempted impedance transformer to also test?</a:t>
            </a:r>
          </a:p>
          <a:p>
            <a:r>
              <a:rPr lang="en-US" dirty="0"/>
              <a:t>Do we want to switch to the full </a:t>
            </a:r>
            <a:r>
              <a:rPr lang="en-US" dirty="0" err="1"/>
              <a:t>Eurocircuits</a:t>
            </a:r>
            <a:r>
              <a:rPr lang="en-US" dirty="0"/>
              <a:t> </a:t>
            </a:r>
            <a:r>
              <a:rPr lang="en-US" dirty="0" err="1"/>
              <a:t>stackup</a:t>
            </a:r>
            <a:r>
              <a:rPr lang="en-US" dirty="0"/>
              <a:t> for the SP3T board?</a:t>
            </a:r>
          </a:p>
          <a:p>
            <a:r>
              <a:rPr lang="en-US" dirty="0"/>
              <a:t>Do we want 30 mil or 60 mil boards for the test boards?</a:t>
            </a:r>
          </a:p>
          <a:p>
            <a:r>
              <a:rPr lang="en-US" dirty="0"/>
              <a:t>Who orders the boards?</a:t>
            </a:r>
          </a:p>
          <a:p>
            <a:r>
              <a:rPr lang="en-US" dirty="0"/>
              <a:t>What else to make?</a:t>
            </a:r>
          </a:p>
          <a:p>
            <a:r>
              <a:rPr lang="en-US" dirty="0"/>
              <a:t>What about trying to measure TWPA in existing switch setup? Have they tried it? Should we try it? </a:t>
            </a:r>
          </a:p>
          <a:p>
            <a:r>
              <a:rPr lang="en-US" dirty="0"/>
              <a:t>Where to publish results on measurements?</a:t>
            </a:r>
          </a:p>
        </p:txBody>
      </p:sp>
    </p:spTree>
    <p:extLst>
      <p:ext uri="{BB962C8B-B14F-4D97-AF65-F5344CB8AC3E}">
        <p14:creationId xmlns:p14="http://schemas.microsoft.com/office/powerpoint/2010/main" val="1798665972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CD57E34-516E-3DD1-EA21-0DBB9275C25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Impedance matching network, version 1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3729D563-5831-9F89-A70F-EFB548194B4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651622" y="2115445"/>
            <a:ext cx="6125430" cy="1991003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4F0812E3-077B-8F80-F84C-EC8E57146F09}"/>
              </a:ext>
            </a:extLst>
          </p:cNvPr>
          <p:cNvSpPr txBox="1"/>
          <p:nvPr/>
        </p:nvSpPr>
        <p:spPr>
          <a:xfrm>
            <a:off x="3991554" y="2981739"/>
            <a:ext cx="1290738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dirty="0"/>
              <a:t>600 pH</a:t>
            </a:r>
            <a:endParaRPr lang="en-US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EABD3891-A1A8-0FE0-381C-64ED95D6DF0E}"/>
              </a:ext>
            </a:extLst>
          </p:cNvPr>
          <p:cNvSpPr txBox="1"/>
          <p:nvPr/>
        </p:nvSpPr>
        <p:spPr>
          <a:xfrm>
            <a:off x="7545787" y="2800847"/>
            <a:ext cx="113524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dirty="0"/>
              <a:t>0.3 pF</a:t>
            </a:r>
            <a:endParaRPr lang="en-US" dirty="0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ACC1BC27-8877-DC53-EC14-8D9AE5190452}"/>
              </a:ext>
            </a:extLst>
          </p:cNvPr>
          <p:cNvSpPr txBox="1"/>
          <p:nvPr/>
        </p:nvSpPr>
        <p:spPr>
          <a:xfrm>
            <a:off x="8681034" y="2196536"/>
            <a:ext cx="123219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dirty="0"/>
              <a:t>Switch</a:t>
            </a:r>
            <a:endParaRPr lang="en-US" dirty="0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1B258BE0-E7D9-3F9C-515C-47C68B064194}"/>
              </a:ext>
            </a:extLst>
          </p:cNvPr>
          <p:cNvSpPr txBox="1"/>
          <p:nvPr/>
        </p:nvSpPr>
        <p:spPr>
          <a:xfrm>
            <a:off x="1419425" y="2196536"/>
            <a:ext cx="992579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dirty="0"/>
              <a:t>Input</a:t>
            </a:r>
            <a:endParaRPr 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1" name="TextBox 10">
                <a:extLst>
                  <a:ext uri="{FF2B5EF4-FFF2-40B4-BE49-F238E27FC236}">
                    <a16:creationId xmlns:a16="http://schemas.microsoft.com/office/drawing/2014/main" id="{940E8BB6-7CBA-3E29-A6C8-E05F247D0B91}"/>
                  </a:ext>
                </a:extLst>
              </p:cNvPr>
              <p:cNvSpPr txBox="1"/>
              <p:nvPr/>
            </p:nvSpPr>
            <p:spPr>
              <a:xfrm>
                <a:off x="4200914" y="4531205"/>
                <a:ext cx="3344873" cy="1127360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14:m>
                  <m:oMath xmlns:m="http://schemas.openxmlformats.org/officeDocument/2006/math">
                    <m:rad>
                      <m:radPr>
                        <m:degHide m:val="on"/>
                        <m:ctrlPr>
                          <a:rPr lang="en-US" sz="360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radPr>
                      <m:deg/>
                      <m:e>
                        <m:f>
                          <m:fPr>
                            <m:ctrlPr>
                              <a:rPr lang="en-US" sz="36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fPr>
                          <m:num>
                            <m:r>
                              <a:rPr lang="en-US" sz="36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600 </m:t>
                            </m:r>
                            <m:r>
                              <a:rPr lang="en-US" sz="36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𝑝𝐻</m:t>
                            </m:r>
                          </m:num>
                          <m:den>
                            <m:r>
                              <a:rPr lang="en-US" sz="36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0.3 </m:t>
                            </m:r>
                            <m:r>
                              <a:rPr lang="en-US" sz="36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𝑝𝐹</m:t>
                            </m:r>
                          </m:den>
                        </m:f>
                      </m:e>
                    </m:rad>
                  </m:oMath>
                </a14:m>
                <a:r>
                  <a:rPr lang="en-US" sz="3600" dirty="0"/>
                  <a:t> = 44.7 </a:t>
                </a:r>
                <a:r>
                  <a:rPr lang="el-GR" sz="3600" dirty="0"/>
                  <a:t>Ω</a:t>
                </a:r>
                <a:endParaRPr lang="en-US" dirty="0"/>
              </a:p>
            </p:txBody>
          </p:sp>
        </mc:Choice>
        <mc:Fallback xmlns="">
          <p:sp>
            <p:nvSpPr>
              <p:cNvPr id="11" name="TextBox 10">
                <a:extLst>
                  <a:ext uri="{FF2B5EF4-FFF2-40B4-BE49-F238E27FC236}">
                    <a16:creationId xmlns:a16="http://schemas.microsoft.com/office/drawing/2014/main" id="{940E8BB6-7CBA-3E29-A6C8-E05F247D0B9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200914" y="4531205"/>
                <a:ext cx="3344873" cy="1127360"/>
              </a:xfrm>
              <a:prstGeom prst="rect">
                <a:avLst/>
              </a:prstGeom>
              <a:blipFill>
                <a:blip r:embed="rId3"/>
                <a:stretch>
                  <a:fillRect r="-3825" b="-108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454103259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323775F-A07C-219A-8575-F3155624F6F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44.7 Ohm impedance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7987DEFE-B18C-38C4-7FB4-9962B30221C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4695" y="2210155"/>
            <a:ext cx="5823124" cy="3328795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F4F038E2-D987-2CB9-3F31-BFA6D34FB6C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07819" y="2210155"/>
            <a:ext cx="5886616" cy="336507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40824624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97506D4-2486-AD4F-BEEC-B979EC12557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We have 4 of these: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C323EDE0-1D0A-0A4E-7C03-927543C9503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13915" y="1690688"/>
            <a:ext cx="6533875" cy="504394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95575086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28" name="Picture 4">
            <a:extLst>
              <a:ext uri="{FF2B5EF4-FFF2-40B4-BE49-F238E27FC236}">
                <a16:creationId xmlns:a16="http://schemas.microsoft.com/office/drawing/2014/main" id="{273BED17-4D91-D8C7-E42D-B75C7FB240D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 rot="5400000">
            <a:off x="5295855" y="1493105"/>
            <a:ext cx="4536383" cy="453638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8" name="Picture 4">
            <a:extLst>
              <a:ext uri="{FF2B5EF4-FFF2-40B4-BE49-F238E27FC236}">
                <a16:creationId xmlns:a16="http://schemas.microsoft.com/office/drawing/2014/main" id="{D789DF2B-6B95-5C21-6DE5-1C1011C33AB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 rot="5400000" flipV="1">
            <a:off x="1904922" y="1493104"/>
            <a:ext cx="4536383" cy="453638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5" name="Rectangle 4">
            <a:extLst>
              <a:ext uri="{FF2B5EF4-FFF2-40B4-BE49-F238E27FC236}">
                <a16:creationId xmlns:a16="http://schemas.microsoft.com/office/drawing/2014/main" id="{CAF2AAA7-2D62-95B8-8CC7-A0D9831C1A01}"/>
              </a:ext>
            </a:extLst>
          </p:cNvPr>
          <p:cNvSpPr/>
          <p:nvPr/>
        </p:nvSpPr>
        <p:spPr>
          <a:xfrm>
            <a:off x="5394929" y="1979629"/>
            <a:ext cx="970961" cy="424207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DUT1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660DE62D-D4CB-614C-2A7F-65AF4B475528}"/>
              </a:ext>
            </a:extLst>
          </p:cNvPr>
          <p:cNvSpPr/>
          <p:nvPr/>
        </p:nvSpPr>
        <p:spPr>
          <a:xfrm>
            <a:off x="5394928" y="2472337"/>
            <a:ext cx="970961" cy="424207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DUT2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4CBEF38C-3F17-E12C-0386-AEAF9F068820}"/>
              </a:ext>
            </a:extLst>
          </p:cNvPr>
          <p:cNvSpPr/>
          <p:nvPr/>
        </p:nvSpPr>
        <p:spPr>
          <a:xfrm>
            <a:off x="5394928" y="3411570"/>
            <a:ext cx="970961" cy="424207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DUT3</a:t>
            </a:r>
          </a:p>
        </p:txBody>
      </p:sp>
      <p:sp>
        <p:nvSpPr>
          <p:cNvPr id="9" name="Rectangle: Rounded Corners 8">
            <a:extLst>
              <a:ext uri="{FF2B5EF4-FFF2-40B4-BE49-F238E27FC236}">
                <a16:creationId xmlns:a16="http://schemas.microsoft.com/office/drawing/2014/main" id="{96CE555A-06EF-6AD8-1543-A6E527F10CA2}"/>
              </a:ext>
            </a:extLst>
          </p:cNvPr>
          <p:cNvSpPr/>
          <p:nvPr/>
        </p:nvSpPr>
        <p:spPr>
          <a:xfrm>
            <a:off x="5295855" y="5144050"/>
            <a:ext cx="1182363" cy="259666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SOLR</a:t>
            </a:r>
          </a:p>
        </p:txBody>
      </p:sp>
      <p:sp>
        <p:nvSpPr>
          <p:cNvPr id="10" name="Arrow: Left-Right 9">
            <a:extLst>
              <a:ext uri="{FF2B5EF4-FFF2-40B4-BE49-F238E27FC236}">
                <a16:creationId xmlns:a16="http://schemas.microsoft.com/office/drawing/2014/main" id="{6057BC25-D0D9-E833-3C75-881687734A51}"/>
              </a:ext>
            </a:extLst>
          </p:cNvPr>
          <p:cNvSpPr/>
          <p:nvPr/>
        </p:nvSpPr>
        <p:spPr>
          <a:xfrm>
            <a:off x="1329180" y="3007151"/>
            <a:ext cx="811411" cy="301658"/>
          </a:xfrm>
          <a:prstGeom prst="left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Arrow: Left-Right 10">
            <a:extLst>
              <a:ext uri="{FF2B5EF4-FFF2-40B4-BE49-F238E27FC236}">
                <a16:creationId xmlns:a16="http://schemas.microsoft.com/office/drawing/2014/main" id="{7AA88A14-997E-3FFC-9BF8-1FD36A636F2C}"/>
              </a:ext>
            </a:extLst>
          </p:cNvPr>
          <p:cNvSpPr/>
          <p:nvPr/>
        </p:nvSpPr>
        <p:spPr>
          <a:xfrm>
            <a:off x="9596570" y="2997724"/>
            <a:ext cx="811411" cy="301658"/>
          </a:xfrm>
          <a:prstGeom prst="left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28590F08-1DC7-1A85-5918-F4468C6DFFB3}"/>
              </a:ext>
            </a:extLst>
          </p:cNvPr>
          <p:cNvSpPr txBox="1"/>
          <p:nvPr/>
        </p:nvSpPr>
        <p:spPr>
          <a:xfrm>
            <a:off x="2609215" y="2371670"/>
            <a:ext cx="114545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SPDT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105A69BE-5738-F186-83B5-7E9F05588140}"/>
              </a:ext>
            </a:extLst>
          </p:cNvPr>
          <p:cNvSpPr txBox="1"/>
          <p:nvPr/>
        </p:nvSpPr>
        <p:spPr>
          <a:xfrm>
            <a:off x="4037280" y="1657432"/>
            <a:ext cx="114545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SPDT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FFB1BFBD-2893-44AA-B7CE-6705FDAD81BD}"/>
              </a:ext>
            </a:extLst>
          </p:cNvPr>
          <p:cNvSpPr txBox="1"/>
          <p:nvPr/>
        </p:nvSpPr>
        <p:spPr>
          <a:xfrm>
            <a:off x="4037279" y="3097376"/>
            <a:ext cx="114545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SPDT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3280F621-2FAB-1B1D-73D1-7591521C4F83}"/>
              </a:ext>
            </a:extLst>
          </p:cNvPr>
          <p:cNvSpPr txBox="1"/>
          <p:nvPr/>
        </p:nvSpPr>
        <p:spPr>
          <a:xfrm>
            <a:off x="7032284" y="1657432"/>
            <a:ext cx="114545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SPDT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33E927C8-D5FF-F6EF-A384-7495F64DD292}"/>
              </a:ext>
            </a:extLst>
          </p:cNvPr>
          <p:cNvSpPr txBox="1"/>
          <p:nvPr/>
        </p:nvSpPr>
        <p:spPr>
          <a:xfrm>
            <a:off x="7032283" y="3097376"/>
            <a:ext cx="114545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SPDT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7D5B97B0-686F-C337-9920-95DF37E8FCF1}"/>
              </a:ext>
            </a:extLst>
          </p:cNvPr>
          <p:cNvSpPr txBox="1"/>
          <p:nvPr/>
        </p:nvSpPr>
        <p:spPr>
          <a:xfrm>
            <a:off x="8451119" y="2371670"/>
            <a:ext cx="114545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SPDT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C9BA73A3-446A-6AE3-4FDE-78F2A57D935F}"/>
              </a:ext>
            </a:extLst>
          </p:cNvPr>
          <p:cNvSpPr txBox="1"/>
          <p:nvPr/>
        </p:nvSpPr>
        <p:spPr>
          <a:xfrm>
            <a:off x="6676470" y="5098644"/>
            <a:ext cx="68115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SP3T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846A1D3F-493D-EB30-A25B-B9DC25AC625D}"/>
              </a:ext>
            </a:extLst>
          </p:cNvPr>
          <p:cNvSpPr txBox="1"/>
          <p:nvPr/>
        </p:nvSpPr>
        <p:spPr>
          <a:xfrm>
            <a:off x="4402008" y="5115769"/>
            <a:ext cx="68115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SP3T</a:t>
            </a:r>
          </a:p>
        </p:txBody>
      </p:sp>
      <p:sp>
        <p:nvSpPr>
          <p:cNvPr id="24" name="Title 1">
            <a:extLst>
              <a:ext uri="{FF2B5EF4-FFF2-40B4-BE49-F238E27FC236}">
                <a16:creationId xmlns:a16="http://schemas.microsoft.com/office/drawing/2014/main" id="{386F8717-9A69-FFCA-5AA6-A73109A3C5D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/>
          <a:lstStyle/>
          <a:p>
            <a:pPr algn="ctr"/>
            <a:r>
              <a:rPr lang="en-US" dirty="0"/>
              <a:t>TWPA-TRON</a:t>
            </a:r>
          </a:p>
        </p:txBody>
      </p:sp>
    </p:spTree>
    <p:extLst>
      <p:ext uri="{BB962C8B-B14F-4D97-AF65-F5344CB8AC3E}">
        <p14:creationId xmlns:p14="http://schemas.microsoft.com/office/powerpoint/2010/main" val="3615119869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52" name="Picture 4">
            <a:extLst>
              <a:ext uri="{FF2B5EF4-FFF2-40B4-BE49-F238E27FC236}">
                <a16:creationId xmlns:a16="http://schemas.microsoft.com/office/drawing/2014/main" id="{985AE81A-ACC1-1432-91FF-92668CE0F45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 rot="5400000">
            <a:off x="5873099" y="1945425"/>
            <a:ext cx="4208084" cy="420808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37C51D60-39BD-F103-1DAB-91F99AE217E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 rot="5400000" flipV="1">
            <a:off x="1665015" y="1945425"/>
            <a:ext cx="4208084" cy="420808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6" name="Title 1">
            <a:extLst>
              <a:ext uri="{FF2B5EF4-FFF2-40B4-BE49-F238E27FC236}">
                <a16:creationId xmlns:a16="http://schemas.microsoft.com/office/drawing/2014/main" id="{3663F26C-B882-A68D-8CAF-403C3010CE9E}"/>
              </a:ext>
            </a:extLst>
          </p:cNvPr>
          <p:cNvSpPr txBox="1">
            <a:spLocks/>
          </p:cNvSpPr>
          <p:nvPr/>
        </p:nvSpPr>
        <p:spPr>
          <a:xfrm>
            <a:off x="576996" y="188920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en-US" dirty="0"/>
              <a:t>TWPA-TRON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26012F88-D9EF-10B9-61D2-7558CCB8C595}"/>
              </a:ext>
            </a:extLst>
          </p:cNvPr>
          <p:cNvSpPr/>
          <p:nvPr/>
        </p:nvSpPr>
        <p:spPr>
          <a:xfrm>
            <a:off x="5387619" y="2253003"/>
            <a:ext cx="970961" cy="424207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DUT1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9143DA5C-9F0B-E508-13C9-00E27823DF66}"/>
              </a:ext>
            </a:extLst>
          </p:cNvPr>
          <p:cNvSpPr/>
          <p:nvPr/>
        </p:nvSpPr>
        <p:spPr>
          <a:xfrm>
            <a:off x="5387618" y="2745711"/>
            <a:ext cx="970961" cy="424207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DUT2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DE08A0EC-9C20-3133-FAB2-2FCDC8A80319}"/>
              </a:ext>
            </a:extLst>
          </p:cNvPr>
          <p:cNvSpPr/>
          <p:nvPr/>
        </p:nvSpPr>
        <p:spPr>
          <a:xfrm>
            <a:off x="5387617" y="3707090"/>
            <a:ext cx="970961" cy="424207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DUT3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41AA2CFE-6584-15FF-4ED2-E7BACC5BDDEF}"/>
              </a:ext>
            </a:extLst>
          </p:cNvPr>
          <p:cNvSpPr/>
          <p:nvPr/>
        </p:nvSpPr>
        <p:spPr>
          <a:xfrm>
            <a:off x="3769057" y="5142975"/>
            <a:ext cx="711526" cy="424207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SOL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EFDA4FAA-DF75-AE4E-C2CA-84D5D9761A07}"/>
              </a:ext>
            </a:extLst>
          </p:cNvPr>
          <p:cNvSpPr/>
          <p:nvPr/>
        </p:nvSpPr>
        <p:spPr>
          <a:xfrm>
            <a:off x="7265615" y="5142975"/>
            <a:ext cx="711526" cy="424207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SOL</a:t>
            </a:r>
          </a:p>
        </p:txBody>
      </p:sp>
      <p:sp>
        <p:nvSpPr>
          <p:cNvPr id="12" name="Arrow: Left-Right 11">
            <a:extLst>
              <a:ext uri="{FF2B5EF4-FFF2-40B4-BE49-F238E27FC236}">
                <a16:creationId xmlns:a16="http://schemas.microsoft.com/office/drawing/2014/main" id="{A23320F9-FF96-9594-CA9E-D7308A85432C}"/>
              </a:ext>
            </a:extLst>
          </p:cNvPr>
          <p:cNvSpPr/>
          <p:nvPr/>
        </p:nvSpPr>
        <p:spPr>
          <a:xfrm>
            <a:off x="773828" y="3278171"/>
            <a:ext cx="811411" cy="301658"/>
          </a:xfrm>
          <a:prstGeom prst="left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Arrow: Left-Right 12">
            <a:extLst>
              <a:ext uri="{FF2B5EF4-FFF2-40B4-BE49-F238E27FC236}">
                <a16:creationId xmlns:a16="http://schemas.microsoft.com/office/drawing/2014/main" id="{F0A0F10D-DF7E-C7A4-BCCA-6AC381116579}"/>
              </a:ext>
            </a:extLst>
          </p:cNvPr>
          <p:cNvSpPr/>
          <p:nvPr/>
        </p:nvSpPr>
        <p:spPr>
          <a:xfrm>
            <a:off x="10160957" y="3278171"/>
            <a:ext cx="811411" cy="301658"/>
          </a:xfrm>
          <a:prstGeom prst="left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1FA24889-8AC1-73B4-3586-73A6F71816F3}"/>
              </a:ext>
            </a:extLst>
          </p:cNvPr>
          <p:cNvSpPr txBox="1"/>
          <p:nvPr/>
        </p:nvSpPr>
        <p:spPr>
          <a:xfrm>
            <a:off x="3957396" y="1911952"/>
            <a:ext cx="71152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SPDT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9DEF14E5-8EA4-DD25-0517-B757947E5EA4}"/>
              </a:ext>
            </a:extLst>
          </p:cNvPr>
          <p:cNvSpPr txBox="1"/>
          <p:nvPr/>
        </p:nvSpPr>
        <p:spPr>
          <a:xfrm>
            <a:off x="3957396" y="3359534"/>
            <a:ext cx="71152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SPDT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A07A59DB-4692-C5FD-5967-1197EABDB340}"/>
              </a:ext>
            </a:extLst>
          </p:cNvPr>
          <p:cNvSpPr txBox="1"/>
          <p:nvPr/>
        </p:nvSpPr>
        <p:spPr>
          <a:xfrm>
            <a:off x="7077273" y="1935621"/>
            <a:ext cx="71152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SPDT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E7D5B66B-55C2-5DE3-EA9B-11E1C3D2D0A4}"/>
              </a:ext>
            </a:extLst>
          </p:cNvPr>
          <p:cNvSpPr txBox="1"/>
          <p:nvPr/>
        </p:nvSpPr>
        <p:spPr>
          <a:xfrm>
            <a:off x="7077273" y="3383203"/>
            <a:ext cx="71152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SPDT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A00D9149-709A-C7C8-61A7-77C6FE9AF555}"/>
              </a:ext>
            </a:extLst>
          </p:cNvPr>
          <p:cNvSpPr txBox="1"/>
          <p:nvPr/>
        </p:nvSpPr>
        <p:spPr>
          <a:xfrm>
            <a:off x="6358578" y="4931584"/>
            <a:ext cx="71152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SPDT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174B2922-4186-F0FF-3316-8E8761AC92A7}"/>
              </a:ext>
            </a:extLst>
          </p:cNvPr>
          <p:cNvSpPr txBox="1"/>
          <p:nvPr/>
        </p:nvSpPr>
        <p:spPr>
          <a:xfrm>
            <a:off x="4610299" y="4958309"/>
            <a:ext cx="71152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SPDT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9E7B2BAC-86B8-432F-EBE4-5BBB1617D3DF}"/>
              </a:ext>
            </a:extLst>
          </p:cNvPr>
          <p:cNvSpPr txBox="1"/>
          <p:nvPr/>
        </p:nvSpPr>
        <p:spPr>
          <a:xfrm>
            <a:off x="8531850" y="2669149"/>
            <a:ext cx="71152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SPDT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F5B291ED-9E5C-A629-1B7E-0DEDCA3A67C3}"/>
              </a:ext>
            </a:extLst>
          </p:cNvPr>
          <p:cNvSpPr txBox="1"/>
          <p:nvPr/>
        </p:nvSpPr>
        <p:spPr>
          <a:xfrm>
            <a:off x="2502821" y="2669147"/>
            <a:ext cx="71152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SPDT</a:t>
            </a:r>
          </a:p>
        </p:txBody>
      </p:sp>
    </p:spTree>
    <p:extLst>
      <p:ext uri="{BB962C8B-B14F-4D97-AF65-F5344CB8AC3E}">
        <p14:creationId xmlns:p14="http://schemas.microsoft.com/office/powerpoint/2010/main" val="2483358830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0B1305F-549F-3458-105C-DAA5A1A74D0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Rough draft of layout topology</a:t>
            </a:r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593B4F7C-9C21-9AED-874D-B9C316BDE93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 rot="16200000">
            <a:off x="2592740" y="1601953"/>
            <a:ext cx="4255291" cy="4659543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D080B772-64DA-481C-597C-810659735985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t="1" b="27360"/>
          <a:stretch>
            <a:fillRect/>
          </a:stretch>
        </p:blipFill>
        <p:spPr>
          <a:xfrm rot="5400000">
            <a:off x="6267627" y="2126011"/>
            <a:ext cx="4255291" cy="338464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15164839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70E54A4-BD03-A967-DC6D-C3B64CADB91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TWPAtron</a:t>
            </a:r>
            <a:r>
              <a:rPr lang="en-US" dirty="0"/>
              <a:t> rough </a:t>
            </a:r>
            <a:r>
              <a:rPr lang="en-US"/>
              <a:t>layout topology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042E6543-36E8-1B26-41CD-638584F69FD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8973" y="2399137"/>
            <a:ext cx="5917027" cy="3150323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87F4260E-F19A-325B-7B0A-73612E67864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096000" y="2694263"/>
            <a:ext cx="5746143" cy="295083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05348996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31005F5-7993-99E3-5FB9-2ED2C486AC1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TWPAtron</a:t>
            </a:r>
            <a:r>
              <a:rPr lang="en-US" dirty="0"/>
              <a:t> Draft</a:t>
            </a:r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C0E39368-BCC3-8E80-3656-F4FD9322F73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 rot="16200000">
            <a:off x="1143679" y="1763053"/>
            <a:ext cx="5201376" cy="4258269"/>
          </a:xfrm>
          <a:prstGeom prst="rect">
            <a:avLst/>
          </a:prstGeom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5F4F267B-E6FD-5A99-4E10-630428CDC428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b="34092"/>
          <a:stretch>
            <a:fillRect/>
          </a:stretch>
        </p:blipFill>
        <p:spPr>
          <a:xfrm rot="5400000">
            <a:off x="4405417" y="2569841"/>
            <a:ext cx="5201376" cy="2806534"/>
          </a:xfrm>
          <a:prstGeom prst="rect">
            <a:avLst/>
          </a:prstGeom>
        </p:spPr>
      </p:pic>
      <p:pic>
        <p:nvPicPr>
          <p:cNvPr id="4" name="Picture 3">
            <a:extLst>
              <a:ext uri="{FF2B5EF4-FFF2-40B4-BE49-F238E27FC236}">
                <a16:creationId xmlns:a16="http://schemas.microsoft.com/office/drawing/2014/main" id="{23B593FD-FDBF-592A-1715-61E7F175C2D1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11202" r="19115"/>
          <a:stretch>
            <a:fillRect/>
          </a:stretch>
        </p:blipFill>
        <p:spPr>
          <a:xfrm>
            <a:off x="8306549" y="2179441"/>
            <a:ext cx="3628852" cy="3306139"/>
          </a:xfrm>
          <a:prstGeom prst="rect">
            <a:avLst/>
          </a:prstGeom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E3EC7CF2-F4B6-D297-827F-28F4F9D424F3}"/>
              </a:ext>
            </a:extLst>
          </p:cNvPr>
          <p:cNvSpPr txBox="1"/>
          <p:nvPr/>
        </p:nvSpPr>
        <p:spPr>
          <a:xfrm>
            <a:off x="4421489" y="5389927"/>
            <a:ext cx="122180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10x10 mm</a:t>
            </a:r>
          </a:p>
        </p:txBody>
      </p:sp>
    </p:spTree>
    <p:extLst>
      <p:ext uri="{BB962C8B-B14F-4D97-AF65-F5344CB8AC3E}">
        <p14:creationId xmlns:p14="http://schemas.microsoft.com/office/powerpoint/2010/main" val="2932968411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8200</TotalTime>
  <Words>227</Words>
  <Application>Microsoft Office PowerPoint</Application>
  <PresentationFormat>Widescreen</PresentationFormat>
  <Paragraphs>64</Paragraphs>
  <Slides>17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17</vt:i4>
      </vt:variant>
    </vt:vector>
  </HeadingPairs>
  <TitlesOfParts>
    <vt:vector size="22" baseType="lpstr">
      <vt:lpstr>Aptos</vt:lpstr>
      <vt:lpstr>Aptos Display</vt:lpstr>
      <vt:lpstr>Arial</vt:lpstr>
      <vt:lpstr>Cambria Math</vt:lpstr>
      <vt:lpstr>Office Theme</vt:lpstr>
      <vt:lpstr>MM4250 Cal PCBs and  Dual SP3T Ecal</vt:lpstr>
      <vt:lpstr>CPW-G Rogers 4350 B 0.762 mm (30 mils)</vt:lpstr>
      <vt:lpstr>60 mil thick board</vt:lpstr>
      <vt:lpstr>Load resistors</vt:lpstr>
      <vt:lpstr>PowerPoint Presentation</vt:lpstr>
      <vt:lpstr>PowerPoint Presentation</vt:lpstr>
      <vt:lpstr>SOLT Standards</vt:lpstr>
      <vt:lpstr>Dual SP3T Ecal</vt:lpstr>
      <vt:lpstr>Questions</vt:lpstr>
      <vt:lpstr>Impedance matching network, version 1</vt:lpstr>
      <vt:lpstr>44.7 Ohm impedance</vt:lpstr>
      <vt:lpstr>We have 4 of these:</vt:lpstr>
      <vt:lpstr>TWPA-TRON</vt:lpstr>
      <vt:lpstr>PowerPoint Presentation</vt:lpstr>
      <vt:lpstr>Rough draft of layout topology</vt:lpstr>
      <vt:lpstr>TWPAtron rough layout topology</vt:lpstr>
      <vt:lpstr>TWPAtron Draft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Spietz, Lafe F. (Fed)</dc:creator>
  <cp:lastModifiedBy>Spietz, Lafe F. (Fed)</cp:lastModifiedBy>
  <cp:revision>67</cp:revision>
  <cp:lastPrinted>2026-02-17T15:32:57Z</cp:lastPrinted>
  <dcterms:created xsi:type="dcterms:W3CDTF">2026-02-10T17:59:13Z</dcterms:created>
  <dcterms:modified xsi:type="dcterms:W3CDTF">2026-03-04T22:12:12Z</dcterms:modified>
</cp:coreProperties>
</file>